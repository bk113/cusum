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3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Funds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F17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EM Equity</c:v>
                </c:pt>
                <c:pt idx="1">
                  <c:v>EM Hard CCY</c:v>
                </c:pt>
                <c:pt idx="2">
                  <c:v>US Core Eq</c:v>
                </c:pt>
                <c:pt idx="3">
                  <c:v>Global Eq (ACWI)</c:v>
                </c:pt>
                <c:pt idx="4">
                  <c:v>Singapore (AIAIM)</c:v>
                </c:pt>
                <c:pt idx="5">
                  <c:v>Global Eq (URTH)</c:v>
                </c:pt>
                <c:pt idx="6">
                  <c:v>US Bond</c:v>
                </c:pt>
                <c:pt idx="7">
                  <c:v>EM Local CCY</c:v>
                </c:pt>
                <c:pt idx="8">
                  <c:v>Balanced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27</c:v>
                </c:pt>
                <c:pt idx="1">
                  <c:v>9</c:v>
                </c:pt>
                <c:pt idx="2">
                  <c:v>7</c:v>
                </c:pt>
                <c:pt idx="3">
                  <c:v>7</c:v>
                </c:pt>
                <c:pt idx="4">
                  <c:v>7</c:v>
                </c:pt>
                <c:pt idx="5">
                  <c:v>4</c:v>
                </c:pt>
                <c:pt idx="6">
                  <c:v>4</c:v>
                </c:pt>
                <c:pt idx="7">
                  <c:v>2</c:v>
                </c:pt>
                <c:pt idx="8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9AF-478A-8738-85370BF9D25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172A"/>
                </a:solidFill>
                <a:latin typeface="Georgia"/>
              </a:defRPr>
            </a:pPr>
            <a:r>
              <a:rPr lang="en-GB" sz="1300" b="0" i="0" u="none" strike="noStrike">
                <a:solidFill>
                  <a:srgbClr val="0F172A"/>
                </a:solidFill>
                <a:latin typeface="Georgia"/>
              </a:rPr>
              <a:t>Signal quality by VIX regime at alarm month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+12M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\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F17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High vol (VIX≥30)</c:v>
                </c:pt>
                <c:pt idx="1">
                  <c:v>Med vol (20–30)</c:v>
                </c:pt>
                <c:pt idx="2">
                  <c:v>Low vol (VIX&lt;20)</c:v>
                </c:pt>
                <c:pt idx="3">
                  <c:v>All regimes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47</c:v>
                </c:pt>
                <c:pt idx="2">
                  <c:v>25</c:v>
                </c:pt>
                <c:pt idx="3">
                  <c:v>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C5D-49BA-84BE-06682F31CFC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+24M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0\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F17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High vol (VIX≥30)</c:v>
                </c:pt>
                <c:pt idx="1">
                  <c:v>Med vol (20–30)</c:v>
                </c:pt>
                <c:pt idx="2">
                  <c:v>Low vol (VIX&lt;20)</c:v>
                </c:pt>
                <c:pt idx="3">
                  <c:v>All regimes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</c:v>
                </c:pt>
                <c:pt idx="1">
                  <c:v>37</c:v>
                </c:pt>
                <c:pt idx="2">
                  <c:v>23</c:v>
                </c:pt>
                <c:pt idx="3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C5D-49BA-84BE-06682F31CFC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334155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Lₜ</c:v>
                </c:pt>
              </c:strCache>
            </c:strRef>
          </c:tx>
          <c:spPr>
            <a:ln w="31750" cap="flat">
              <a:solidFill>
                <a:srgbClr val="1E2761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Sheet1!$A$2:$A$72</c:f>
              <c:strCache>
                <c:ptCount val="71"/>
                <c:pt idx="0">
                  <c:v>0m</c:v>
                </c:pt>
                <c:pt idx="12">
                  <c:v>12m</c:v>
                </c:pt>
                <c:pt idx="24">
                  <c:v>24m</c:v>
                </c:pt>
                <c:pt idx="36">
                  <c:v>36m</c:v>
                </c:pt>
                <c:pt idx="48">
                  <c:v>48m</c:v>
                </c:pt>
                <c:pt idx="60">
                  <c:v>60m</c:v>
                </c:pt>
              </c:strCache>
            </c:strRef>
          </c:cat>
          <c:val>
            <c:numRef>
              <c:f>Sheet1!$B$2:$B$72</c:f>
              <c:numCache>
                <c:formatCode>General</c:formatCode>
                <c:ptCount val="7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0.34</c:v>
                </c:pt>
                <c:pt idx="25">
                  <c:v>0.59</c:v>
                </c:pt>
                <c:pt idx="26">
                  <c:v>0.84</c:v>
                </c:pt>
                <c:pt idx="27">
                  <c:v>1.1100000000000001</c:v>
                </c:pt>
                <c:pt idx="28">
                  <c:v>1.41</c:v>
                </c:pt>
                <c:pt idx="29">
                  <c:v>1.76</c:v>
                </c:pt>
                <c:pt idx="30">
                  <c:v>2.17</c:v>
                </c:pt>
                <c:pt idx="31">
                  <c:v>2.66</c:v>
                </c:pt>
                <c:pt idx="32">
                  <c:v>3.21</c:v>
                </c:pt>
                <c:pt idx="33">
                  <c:v>3.84</c:v>
                </c:pt>
                <c:pt idx="34">
                  <c:v>4.54</c:v>
                </c:pt>
                <c:pt idx="35">
                  <c:v>5.3</c:v>
                </c:pt>
                <c:pt idx="36">
                  <c:v>6.11</c:v>
                </c:pt>
                <c:pt idx="37">
                  <c:v>6.94</c:v>
                </c:pt>
                <c:pt idx="38">
                  <c:v>7.79</c:v>
                </c:pt>
                <c:pt idx="39">
                  <c:v>8.6300000000000008</c:v>
                </c:pt>
                <c:pt idx="40">
                  <c:v>9.4499999999999993</c:v>
                </c:pt>
                <c:pt idx="41">
                  <c:v>10.23</c:v>
                </c:pt>
                <c:pt idx="42">
                  <c:v>10.96</c:v>
                </c:pt>
                <c:pt idx="43">
                  <c:v>11.61</c:v>
                </c:pt>
                <c:pt idx="44">
                  <c:v>12.2</c:v>
                </c:pt>
                <c:pt idx="45">
                  <c:v>12.71</c:v>
                </c:pt>
                <c:pt idx="46">
                  <c:v>13.15</c:v>
                </c:pt>
                <c:pt idx="47">
                  <c:v>13.52</c:v>
                </c:pt>
                <c:pt idx="48">
                  <c:v>13.84</c:v>
                </c:pt>
                <c:pt idx="49">
                  <c:v>14.12</c:v>
                </c:pt>
                <c:pt idx="50">
                  <c:v>14.38</c:v>
                </c:pt>
                <c:pt idx="51">
                  <c:v>14.63</c:v>
                </c:pt>
                <c:pt idx="52">
                  <c:v>14.9</c:v>
                </c:pt>
                <c:pt idx="53">
                  <c:v>15.19</c:v>
                </c:pt>
                <c:pt idx="54">
                  <c:v>15.54</c:v>
                </c:pt>
                <c:pt idx="55">
                  <c:v>15.94</c:v>
                </c:pt>
                <c:pt idx="56">
                  <c:v>16.41</c:v>
                </c:pt>
                <c:pt idx="57">
                  <c:v>16.96</c:v>
                </c:pt>
                <c:pt idx="58">
                  <c:v>17.579999999999998</c:v>
                </c:pt>
                <c:pt idx="59">
                  <c:v>18.27</c:v>
                </c:pt>
                <c:pt idx="60">
                  <c:v>19.02</c:v>
                </c:pt>
                <c:pt idx="61">
                  <c:v>19.82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2A1-4EA5-B451-8B8689EA409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Threshold (19.46)</c:v>
                </c:pt>
              </c:strCache>
            </c:strRef>
          </c:tx>
          <c:spPr>
            <a:ln w="31750" cap="flat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Sheet1!$A$2:$A$72</c:f>
              <c:strCache>
                <c:ptCount val="71"/>
                <c:pt idx="0">
                  <c:v>0m</c:v>
                </c:pt>
                <c:pt idx="12">
                  <c:v>12m</c:v>
                </c:pt>
                <c:pt idx="24">
                  <c:v>24m</c:v>
                </c:pt>
                <c:pt idx="36">
                  <c:v>36m</c:v>
                </c:pt>
                <c:pt idx="48">
                  <c:v>48m</c:v>
                </c:pt>
                <c:pt idx="60">
                  <c:v>60m</c:v>
                </c:pt>
              </c:strCache>
            </c:strRef>
          </c:cat>
          <c:val>
            <c:numRef>
              <c:f>Sheet1!$C$2:$C$72</c:f>
              <c:numCache>
                <c:formatCode>General</c:formatCode>
                <c:ptCount val="71"/>
                <c:pt idx="0">
                  <c:v>19.46</c:v>
                </c:pt>
                <c:pt idx="1">
                  <c:v>19.46</c:v>
                </c:pt>
                <c:pt idx="2">
                  <c:v>19.46</c:v>
                </c:pt>
                <c:pt idx="3">
                  <c:v>19.46</c:v>
                </c:pt>
                <c:pt idx="4">
                  <c:v>19.46</c:v>
                </c:pt>
                <c:pt idx="5">
                  <c:v>19.46</c:v>
                </c:pt>
                <c:pt idx="6">
                  <c:v>19.46</c:v>
                </c:pt>
                <c:pt idx="7">
                  <c:v>19.46</c:v>
                </c:pt>
                <c:pt idx="8">
                  <c:v>19.46</c:v>
                </c:pt>
                <c:pt idx="9">
                  <c:v>19.46</c:v>
                </c:pt>
                <c:pt idx="10">
                  <c:v>19.46</c:v>
                </c:pt>
                <c:pt idx="11">
                  <c:v>19.46</c:v>
                </c:pt>
                <c:pt idx="12">
                  <c:v>19.46</c:v>
                </c:pt>
                <c:pt idx="13">
                  <c:v>19.46</c:v>
                </c:pt>
                <c:pt idx="14">
                  <c:v>19.46</c:v>
                </c:pt>
                <c:pt idx="15">
                  <c:v>19.46</c:v>
                </c:pt>
                <c:pt idx="16">
                  <c:v>19.46</c:v>
                </c:pt>
                <c:pt idx="17">
                  <c:v>19.46</c:v>
                </c:pt>
                <c:pt idx="18">
                  <c:v>19.46</c:v>
                </c:pt>
                <c:pt idx="19">
                  <c:v>19.46</c:v>
                </c:pt>
                <c:pt idx="20">
                  <c:v>19.46</c:v>
                </c:pt>
                <c:pt idx="21">
                  <c:v>19.46</c:v>
                </c:pt>
                <c:pt idx="22">
                  <c:v>19.46</c:v>
                </c:pt>
                <c:pt idx="23">
                  <c:v>19.46</c:v>
                </c:pt>
                <c:pt idx="24">
                  <c:v>19.46</c:v>
                </c:pt>
                <c:pt idx="25">
                  <c:v>19.46</c:v>
                </c:pt>
                <c:pt idx="26">
                  <c:v>19.46</c:v>
                </c:pt>
                <c:pt idx="27">
                  <c:v>19.46</c:v>
                </c:pt>
                <c:pt idx="28">
                  <c:v>19.46</c:v>
                </c:pt>
                <c:pt idx="29">
                  <c:v>19.46</c:v>
                </c:pt>
                <c:pt idx="30">
                  <c:v>19.46</c:v>
                </c:pt>
                <c:pt idx="31">
                  <c:v>19.46</c:v>
                </c:pt>
                <c:pt idx="32">
                  <c:v>19.46</c:v>
                </c:pt>
                <c:pt idx="33">
                  <c:v>19.46</c:v>
                </c:pt>
                <c:pt idx="34">
                  <c:v>19.46</c:v>
                </c:pt>
                <c:pt idx="35">
                  <c:v>19.46</c:v>
                </c:pt>
                <c:pt idx="36">
                  <c:v>19.46</c:v>
                </c:pt>
                <c:pt idx="37">
                  <c:v>19.46</c:v>
                </c:pt>
                <c:pt idx="38">
                  <c:v>19.46</c:v>
                </c:pt>
                <c:pt idx="39">
                  <c:v>19.46</c:v>
                </c:pt>
                <c:pt idx="40">
                  <c:v>19.46</c:v>
                </c:pt>
                <c:pt idx="41">
                  <c:v>19.46</c:v>
                </c:pt>
                <c:pt idx="42">
                  <c:v>19.46</c:v>
                </c:pt>
                <c:pt idx="43">
                  <c:v>19.46</c:v>
                </c:pt>
                <c:pt idx="44">
                  <c:v>19.46</c:v>
                </c:pt>
                <c:pt idx="45">
                  <c:v>19.46</c:v>
                </c:pt>
                <c:pt idx="46">
                  <c:v>19.46</c:v>
                </c:pt>
                <c:pt idx="47">
                  <c:v>19.46</c:v>
                </c:pt>
                <c:pt idx="48">
                  <c:v>19.46</c:v>
                </c:pt>
                <c:pt idx="49">
                  <c:v>19.46</c:v>
                </c:pt>
                <c:pt idx="50">
                  <c:v>19.46</c:v>
                </c:pt>
                <c:pt idx="51">
                  <c:v>19.46</c:v>
                </c:pt>
                <c:pt idx="52">
                  <c:v>19.46</c:v>
                </c:pt>
                <c:pt idx="53">
                  <c:v>19.46</c:v>
                </c:pt>
                <c:pt idx="54">
                  <c:v>19.46</c:v>
                </c:pt>
                <c:pt idx="55">
                  <c:v>19.46</c:v>
                </c:pt>
                <c:pt idx="56">
                  <c:v>19.46</c:v>
                </c:pt>
                <c:pt idx="57">
                  <c:v>19.46</c:v>
                </c:pt>
                <c:pt idx="58">
                  <c:v>19.46</c:v>
                </c:pt>
                <c:pt idx="59">
                  <c:v>19.46</c:v>
                </c:pt>
                <c:pt idx="60">
                  <c:v>19.46</c:v>
                </c:pt>
                <c:pt idx="61">
                  <c:v>19.46</c:v>
                </c:pt>
                <c:pt idx="62">
                  <c:v>19.46</c:v>
                </c:pt>
                <c:pt idx="63">
                  <c:v>19.46</c:v>
                </c:pt>
                <c:pt idx="64">
                  <c:v>19.46</c:v>
                </c:pt>
                <c:pt idx="65">
                  <c:v>19.46</c:v>
                </c:pt>
                <c:pt idx="66">
                  <c:v>19.46</c:v>
                </c:pt>
                <c:pt idx="67">
                  <c:v>19.46</c:v>
                </c:pt>
                <c:pt idx="68">
                  <c:v>19.46</c:v>
                </c:pt>
                <c:pt idx="69">
                  <c:v>19.46</c:v>
                </c:pt>
                <c:pt idx="70">
                  <c:v>19.46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2A1-4EA5-B451-8B8689EA40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5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34155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37517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Monitoring Active Managers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2697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Statistical Process Control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CUSUM framework calibrated to detect persistent skill change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 67-fund global portfolio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 Risk  •  Global Markets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CIO's resource-allocation problem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 active managers. Every quarter, the question is the same.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six need a hard look this month?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5943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committees can review six funds in depth per quarter, not sixty.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at three-year rolling returns conflates good years with bad. Looking at five-year IRs is statistically respectable but operationally useless — by the time a fund is statistically significant, it has been broken for a decade.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classical answer is genuinely bad: it takes ~40 years of monthly data to prove a manager has lost their edge at 95% confidence using a t-test.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949440" y="1554480"/>
            <a:ext cx="4663440" cy="448056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7" name="Shape 5"/>
          <p:cNvSpPr/>
          <p:nvPr/>
        </p:nvSpPr>
        <p:spPr>
          <a:xfrm>
            <a:off x="6949440" y="1554480"/>
            <a:ext cx="73152" cy="448056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8" name="Text 6"/>
          <p:cNvSpPr/>
          <p:nvPr/>
        </p:nvSpPr>
        <p:spPr>
          <a:xfrm>
            <a:off x="7223760" y="1783080"/>
            <a:ext cx="4297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</a:t>
            </a:r>
            <a:endParaRPr lang="en-US" sz="11000" dirty="0"/>
          </a:p>
        </p:txBody>
      </p:sp>
      <p:sp>
        <p:nvSpPr>
          <p:cNvPr id="9" name="Text 7"/>
          <p:cNvSpPr/>
          <p:nvPr/>
        </p:nvSpPr>
        <p:spPr>
          <a:xfrm>
            <a:off x="7223760" y="32461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years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223760" y="379476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confirm skill loss using a classical t-test on monthly excess returns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223760" y="48463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then the money is gone, the manager has retired, and the committee has forgotten why they hired them.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65105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Active Managers — Statistical Process Control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607040" y="651052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CUSUM idea, in plain language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Borrowed from 1950s factory quality control. Same math; different shop floor.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66160" cy="429768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566160" cy="7315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6" name="Text 4"/>
          <p:cNvSpPr/>
          <p:nvPr/>
        </p:nvSpPr>
        <p:spPr>
          <a:xfrm>
            <a:off x="822960" y="17830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The tollbooth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331720"/>
            <a:ext cx="32004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the queue at a tollbooth. If most drivers have exact change, the queue stays short. If a wave arrives paying with $100 bills, the queue grows — fast. You don't measure each transaction. You watch the queue.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97680" y="1554480"/>
            <a:ext cx="3566160" cy="429768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9" name="Shape 7"/>
          <p:cNvSpPr/>
          <p:nvPr/>
        </p:nvSpPr>
        <p:spPr>
          <a:xfrm>
            <a:off x="4297680" y="1554480"/>
            <a:ext cx="3566160" cy="7315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0" name="Text 8"/>
          <p:cNvSpPr/>
          <p:nvPr/>
        </p:nvSpPr>
        <p:spPr>
          <a:xfrm>
            <a:off x="4572000" y="17830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The manager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0" y="2331720"/>
            <a:ext cx="32004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Outperformance vs benchmark is exact change — the queue shrinks. Underperformance is the $100 bill — the queue grows. Each monthly return either eases or stresses the system.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46720" y="1554480"/>
            <a:ext cx="3566160" cy="429768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3" name="Shape 11"/>
          <p:cNvSpPr/>
          <p:nvPr/>
        </p:nvSpPr>
        <p:spPr>
          <a:xfrm>
            <a:off x="8046720" y="1554480"/>
            <a:ext cx="3566160" cy="7315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4" name="Text 12"/>
          <p:cNvSpPr/>
          <p:nvPr/>
        </p:nvSpPr>
        <p:spPr>
          <a:xfrm>
            <a:off x="8321040" y="17830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The alarm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321040" y="2331720"/>
            <a:ext cx="32004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queue crosses a calibrated threshold, the statistical evidence has accumulated enough that we can say, with quantified confidence: something has changed in how this manager invests.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payoff: 32 months to detect skill loss instead of 40 years. A ~15× improvement in detection speed at a fixed false-alarm rate.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65105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Active Managers — Statistical Process Control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607040" y="651052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CUSUM and not something else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alternative procedures and where each falls short.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41148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Procedure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tests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it's slower / weaker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Three-year rolling return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Did the fund beat its benchmark over the last 36 months?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 years mask bad years. No notion of when the regime changed. Visual, not statistical.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Classical t-test on excess return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mean excess return significantly different from zero?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Requires the mean to be stationary across the sample. ~40 years to detect IR = 0 at 95% confidence. Useless in practice.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Wald SPRT (1947)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Sequential test: does evidence so far reject the good hypothesis?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Optimal under stationarity, but assumes the regime is fixed from inception. Doesn't adapt to a change point.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51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CUSUM (Page 1954)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month, re-estimate the optimum look-back window and re-test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Moustakides (1986): for any fixed false-alarm rate, no procedure detects a change faster. This is a published, peer-reviewed optimality result.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optimality result is what makes this defensible to a quant peer. The detection speed is what makes it defensible to a CIO.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65105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Active Managers — Statistical Process Control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607040" y="651052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monitor: the Information Ratio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Risk-adjusted active return. Stable across asset classes. Directly tied to manager skill.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86400" cy="438912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5" name="Text 3"/>
          <p:cNvSpPr/>
          <p:nvPr/>
        </p:nvSpPr>
        <p:spPr>
          <a:xfrm>
            <a:off x="731520" y="178308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IR = E[r_p − r_b] / σ(r_p − r_b)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5120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Annualised mean excess return divided by tracking error.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and not excess return: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Excess return varies wildly across asset classes (5% in EM equity, 50bps in IG bonds). IR is stable — a good manager has IR ~ 0.5 in either.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One calibrated CUSUM threshold works across the entire 67-fund universe.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Probability of outperformance over any horizon depends only on IR (and the horizon), not on the specific asset class.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0" y="15544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Probability of outperformance, by IR and horizon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011680"/>
          <a:ext cx="5212080" cy="246888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year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years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years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400800" y="493776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= 0.5 is our "good" threshold. Highlighted row is the regime we monitor against.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0" y="54864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Philips, Yashchin &amp; Stein (2003), Table 1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48640" y="65105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Active Managers — Statistical Process Control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607040" y="651052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procedure runs, each month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steps. Run every month-end on every fund. Stateful — the test remembers.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17320" y="15544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Compute log excess return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93852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eₜ = ln((1+rₚ)/(1+r_b)). Logs compound cleanly; arithmetic excess introduces drift over long horizons.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596896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9" name="Text 7"/>
          <p:cNvSpPr/>
          <p:nvPr/>
        </p:nvSpPr>
        <p:spPr>
          <a:xfrm>
            <a:off x="640080" y="259689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417320" y="250545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Update tracking error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17320" y="2889504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Exponentially weighted Von Neumann variance estimator, γ = 0.9. Adapts to vol regime changes; insensitive to slow mean drift.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547872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3" name="Text 11"/>
          <p:cNvSpPr/>
          <p:nvPr/>
        </p:nvSpPr>
        <p:spPr>
          <a:xfrm>
            <a:off x="640080" y="354787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17320" y="345643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Estimate current IR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17320" y="38404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IR̂ₜ = (eₜ × √12) / σ̂ₜ₋₁. Lagged σ in the denominator keeps numerator and denominator independent — unbiased estimate.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498848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7" name="Text 15"/>
          <p:cNvSpPr/>
          <p:nvPr/>
        </p:nvSpPr>
        <p:spPr>
          <a:xfrm>
            <a:off x="640080" y="449884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417320" y="440740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Update the CUSUM statistic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17320" y="4791456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Lₜ = max(0, Lₜ₋₁ + 0.25 − IR̂ₜ). Lindley's recursion. Reflects at zero. Grows when IR̂ &lt; 0.25 (worse than good); shrinks when IR̂ &gt; 0.25.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5449824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1" name="Text 19"/>
          <p:cNvSpPr/>
          <p:nvPr/>
        </p:nvSpPr>
        <p:spPr>
          <a:xfrm>
            <a:off x="640080" y="544982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417320" y="5358384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Compare to threshold h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17320" y="574243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Lₜ ≥ 19.46, raise an alarm. Threshold calibrated by Monte Carlo to give one false alarm per ~60 monitoring months under H₀ (IR = 0.5).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65105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Active Managers — Statistical Process Control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607040" y="651052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Calibration: reproducing the paper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derived by Monte Carlo on our actual procedure, not borrowed from the table.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Asset-class thresholds (h)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5943600" cy="20116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 class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(MC, 10k paths)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Table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Equity (IR_good = 0.5)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19.46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19.81 (ARL=60)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income (IR_good = 0.3)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21.79 (ARL=72)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−2.9%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Balanced (IR_good = 0.4)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~20.8 (interp.)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20624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thresholds land within MC noise (±0.3 at 10k paths) of the paper. The framework reproduces a 23-year-old peer-reviewed result without tuning.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949440" y="15544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inside the calibration</a:t>
            </a:r>
            <a:endParaRPr lang="en-US" sz="1600" dirty="0"/>
          </a:p>
        </p:txBody>
      </p:sp>
      <p:sp>
        <p:nvSpPr>
          <p:cNvPr id="5" name="Text 5"/>
          <p:cNvSpPr/>
          <p:nvPr/>
        </p:nvSpPr>
        <p:spPr>
          <a:xfrm>
            <a:off x="6949440" y="1965960"/>
            <a:ext cx="46634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 faithful to PYS (2003):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Annualised IR scores  • γ = 0.9 EWMA tracking error  • Lagged σ in IR denominator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additions: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24-month calibration window (σ warms up; L frozen)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Regime-outlier freeze at |IR̂| &gt; 14 (≈ 4 monthly-σ) — suppresses single-month tail events from crossing h alone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target ARL = 84 absolute months = 60 monitoring months (calibration window excluded from clock)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65105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Active Managers — Statistical Process Control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607040" y="651052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universe: 67 active funds, 5 asset classes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20-year window where available. yfinance NAVs, manually verified benchmarks.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554480"/>
          <a:ext cx="68580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554480"/>
            <a:ext cx="3840480" cy="141732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6" name="Text 3"/>
          <p:cNvSpPr/>
          <p:nvPr/>
        </p:nvSpPr>
        <p:spPr>
          <a:xfrm>
            <a:off x="7955280" y="169164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67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9646920" y="169164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active funds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monitored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772400" y="3063240"/>
            <a:ext cx="3840480" cy="141732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9" name="Text 6"/>
          <p:cNvSpPr/>
          <p:nvPr/>
        </p:nvSpPr>
        <p:spPr>
          <a:xfrm>
            <a:off x="7955280" y="320040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256</a:t>
            </a:r>
            <a:endParaRPr lang="en-US" sz="5200" dirty="0"/>
          </a:p>
        </p:txBody>
      </p:sp>
      <p:sp>
        <p:nvSpPr>
          <p:cNvPr id="10" name="Text 7"/>
          <p:cNvSpPr/>
          <p:nvPr/>
        </p:nvSpPr>
        <p:spPr>
          <a:xfrm>
            <a:off x="9646920" y="320040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max months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 history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772400" y="4572000"/>
            <a:ext cx="3840480" cy="141732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2" name="Text 9"/>
          <p:cNvSpPr/>
          <p:nvPr/>
        </p:nvSpPr>
        <p:spPr>
          <a:xfrm>
            <a:off x="7955280" y="470916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5200" dirty="0"/>
          </a:p>
        </p:txBody>
      </p:sp>
      <p:sp>
        <p:nvSpPr>
          <p:cNvPr id="13" name="Text 10"/>
          <p:cNvSpPr/>
          <p:nvPr/>
        </p:nvSpPr>
        <p:spPr>
          <a:xfrm>
            <a:off x="9646920" y="470916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benchmark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indices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48640" y="65105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Active Managers — Statistical Process Control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0607040" y="651052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Headline results across the book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years, 67 funds, 58 alarms. Status as of latest run.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66160" cy="429768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73152" cy="42976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58 / 67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822960" y="33375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funds with at least one alarm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977640"/>
            <a:ext cx="32004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 of the book has crossed h at some point. Reads as: meaningful underperformance episodes are the norm, not the exception, in 20-year windows.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97680" y="1554480"/>
            <a:ext cx="3566160" cy="429768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0" name="Shape 8"/>
          <p:cNvSpPr/>
          <p:nvPr/>
        </p:nvSpPr>
        <p:spPr>
          <a:xfrm>
            <a:off x="4297680" y="1554480"/>
            <a:ext cx="73152" cy="42976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1" name="Text 9"/>
          <p:cNvSpPr/>
          <p:nvPr/>
        </p:nvSpPr>
        <p:spPr>
          <a:xfrm>
            <a:off x="4572000" y="182880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4572000" y="33375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months — median detection time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0" y="3977640"/>
            <a:ext cx="32004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start of monitoring to first alarm, across funds that alarmed. Compares to ~480 months (40 years) for a classical t-test at equivalent confidence.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0" y="1554480"/>
            <a:ext cx="3566160" cy="429768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5" name="Shape 13"/>
          <p:cNvSpPr/>
          <p:nvPr/>
        </p:nvSpPr>
        <p:spPr>
          <a:xfrm>
            <a:off x="8046720" y="1554480"/>
            <a:ext cx="73152" cy="42976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6" name="Text 14"/>
          <p:cNvSpPr/>
          <p:nvPr/>
        </p:nvSpPr>
        <p:spPr>
          <a:xfrm>
            <a:off x="8321040" y="182880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0.39</a:t>
            </a:r>
            <a:endParaRPr lang="en-US" sz="6000" dirty="0"/>
          </a:p>
        </p:txBody>
      </p:sp>
      <p:sp>
        <p:nvSpPr>
          <p:cNvPr id="17" name="Text 15"/>
          <p:cNvSpPr/>
          <p:nvPr/>
        </p:nvSpPr>
        <p:spPr>
          <a:xfrm>
            <a:off x="8321040" y="33375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median Information Ratio at alarm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21040" y="3977640"/>
            <a:ext cx="32004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 typically alarm when their realised IR has settled below the "flat-to-benchmark" threshold for an extended period.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descriptive statistics. The next slide is the backtest of whether alarms predict anything.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65105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Active Managers — Statistical Process Control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607040" y="651052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Backtest: do alarms predict future underperformance?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quality = share of alarms followed by negative excess return at the stated horizon. 50% is coin flip.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508760"/>
          <a:ext cx="685800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554480"/>
            <a:ext cx="3840480" cy="420624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6" name="Shape 3"/>
          <p:cNvSpPr/>
          <p:nvPr/>
        </p:nvSpPr>
        <p:spPr>
          <a:xfrm>
            <a:off x="7772400" y="1554480"/>
            <a:ext cx="73152" cy="420624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7" name="Text 4"/>
          <p:cNvSpPr/>
          <p:nvPr/>
        </p:nvSpPr>
        <p:spPr>
          <a:xfrm>
            <a:off x="7955280" y="16916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Honest read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955280" y="2103120"/>
            <a:ext cx="35661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buckets sit below 50%.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alarm is more likely to be followed by recovery than continued underperformance.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 is not a forward-return predictor. It is a regime-change detector.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reversion in active manager returns dominates the post-alarm window across every VIX regime.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48640" y="59436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38 alarms with sufficient post-alarm history (20 recent alarms censored).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48640" y="65105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Active Managers — Statistical Process Control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607040" y="651052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Backtest: does it work on its designed population?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Hypothesis: alarms on previously-good managers (positive pre-alarm IR) should show stronger forward signal. They don't.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6858000" cy="164592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Pre-alarm 24M IR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alarms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 quality +12M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 quality +24M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Positive (IR ≥ 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 (IR &lt; 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566160"/>
            <a:ext cx="6858000" cy="237744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6" name="Text 3"/>
          <p:cNvSpPr/>
          <p:nvPr/>
        </p:nvSpPr>
        <p:spPr>
          <a:xfrm>
            <a:off x="731520" y="370332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expected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31520" y="4069080"/>
            <a:ext cx="649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 to "previously good, then turned bad" alarms should isolate genuine skill-regime change. Forward signal quality on that cohort should be meaningfully &gt; 50%.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31520" y="484632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got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1520" y="5212080"/>
            <a:ext cx="649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Positive-pre-IR cohort is 40% at +12M; reverses to 21% at +24M. The negative-pre-IR cohort is 32% / 28%. No meaningful or stable forward edge in either bucket.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772400" y="1554480"/>
            <a:ext cx="3840480" cy="4389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1" name="Text 8"/>
          <p:cNvSpPr/>
          <p:nvPr/>
        </p:nvSpPr>
        <p:spPr>
          <a:xfrm>
            <a:off x="7955280" y="16916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Implication</a:t>
            </a:r>
            <a:endParaRPr lang="en-US" sz="1600" dirty="0"/>
          </a:p>
        </p:txBody>
      </p:sp>
      <p:sp>
        <p:nvSpPr>
          <p:cNvPr id="4" name="Text 9"/>
          <p:cNvSpPr/>
          <p:nvPr/>
        </p:nvSpPr>
        <p:spPr>
          <a:xfrm>
            <a:off x="7955280" y="2103120"/>
            <a:ext cx="35661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candidate explanations: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Mean reversion in active manager returns dominates the 12–24M horizon.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Survivorship bias — funds in our universe are ones that survived their drawdowns.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CUSUM detects skill change, not future direction. Conflating the two was a category error in framing.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48640" y="65105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Active Managers — Statistical Process Control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607040" y="651052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Worked example A: FCNTX (Fidelity Contrafund)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 signal. Alarm fires; manager process review confirms a stylistic shift.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story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54864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Benchmark: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Russell 1000 Growth (IWF)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History: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256 months loaded (2005-01 to 2026-04)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alarm: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2010-02 (month 61 of monitoring)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VIX at alarm: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21.7 (med_vol)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Pre-alarm 24M IR: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+0.18 (modestly positive, then weakening)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happening: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Post-GFC growth rally heavily favored mega-cap growth (AAPL, AMZN). Contrafund's contrarian style fell out of favor as the market rewarded momentum.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of process review: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drift identified, not skill loss. Fund retained, CUSUM re-initialised. Matches the PYS recommendation: alarm triggers review, not termination.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0" y="15544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CUSUM statistic Lₜ — illustrative path</a:t>
            </a:r>
            <a:endParaRPr lang="en-US" sz="14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6400800" y="1965960"/>
          <a:ext cx="521208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6400800" y="59893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at month 61 (2010-02). L resets to zero after the investigation concludes.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48640" y="65105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Active Managers — Statistical Process Control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607040" y="651052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Worked example B: AGTHX (Growth Fund of America)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questionable signal. Alarm fires during the GFC drawdown; fund recovers with the market.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story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54864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Benchmark: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S&amp;P 500 (SPY)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alarm: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2008-10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VIX at alarm:</a:t>
            </a:r>
            <a:r>
              <a:rPr lang="en-US" sz="11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61.2 (high_vol) — Lehman week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Pre-alarm 24M IR: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+0.40 (genuinely good manager)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Post-alarm +12M excess:</a:t>
            </a:r>
            <a:r>
              <a:rPr lang="en-US" sz="11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+5.4% (fund recovered)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Post-alarm +24M excess:</a:t>
            </a:r>
            <a:r>
              <a:rPr lang="en-US" sz="11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+3.9% (skill intact)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happening: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Mid-cap growth tilt vs S&amp;P 500 amplified the GFC drawdown. The CUSUM correctly detected statistically significant underperformance — but the underperformance was a beta/factor effect, not a skill change.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</a:t>
            </a:r>
            <a:endParaRPr lang="en-US" sz="1150" dirty="0"/>
          </a:p>
          <a:p>
            <a:pPr marL="0" indent="0">
              <a:buNone/>
            </a:pPr>
            <a:r>
              <a:rPr lang="en-US" sz="115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review concluded "factor/style noise, not skill loss." Fund retained. CUSUM reset. The alarm was statistically correct but operationally a false positive.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00800" y="15544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AGTHX is one of 8 funds that alarmed in Sep–Dec 2008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965960"/>
          <a:ext cx="5212080" cy="3072384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Alarm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+12M xs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FMAGX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2008-09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+0.37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PRMSX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2008-09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AGTHX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2008-10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VEIEX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2008-10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MADCX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2008-10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−0.58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+11.4%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PTTRX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2008-12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+10.6%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HLMEX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2008-12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−0.36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00800" y="530352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of 10 high-vol alarms in our entire sample fall in this 3-month window. Read this as the framework correctly identifying real underperformance — and the operator correctly contextualising it as crisis-driven, not skill-driven.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65105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Active Managers — Statistical Process Control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607040" y="651052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 use the framework operationally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termination tool. An attention allocator.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15087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Daily / monthly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189280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67 funds run through the CUSUM at month-end. The L statistic is logged for each. No human intervention required.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551176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9" name="Text 7"/>
          <p:cNvSpPr/>
          <p:nvPr/>
        </p:nvSpPr>
        <p:spPr>
          <a:xfrm>
            <a:off x="640080" y="25511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71600" y="245973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an alarm fires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71600" y="2843784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fund moves onto the manager-review queue for the next investment committee. Other funds remain untouched.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50215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3" name="Text 11"/>
          <p:cNvSpPr/>
          <p:nvPr/>
        </p:nvSpPr>
        <p:spPr>
          <a:xfrm>
            <a:off x="640080" y="35021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71600" y="341071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the review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71600" y="3794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root cause: style drift, factor exposure, manager turnover, asset bloat, fee changes. Compare alarm to known macro regime (use the VIX tag).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45312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7" name="Text 15"/>
          <p:cNvSpPr/>
          <p:nvPr/>
        </p:nvSpPr>
        <p:spPr>
          <a:xfrm>
            <a:off x="640080" y="44531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371600" y="436168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decision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71600" y="4745736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outcomes: (a) skill loss confirmed → terminate; (b) factor/style noise → retain, reset CUSUM; (c) inconclusive → place on watch list, tighten threshold for this fund.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5404104"/>
            <a:ext cx="548640" cy="54864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1" name="Text 19"/>
          <p:cNvSpPr/>
          <p:nvPr/>
        </p:nvSpPr>
        <p:spPr>
          <a:xfrm>
            <a:off x="640080" y="54041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371600" y="5312664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never do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71600" y="569671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Terminate a manager on the strength of a CUSUM alarm alone. Per Philips-Yashchin-Stein (2003): "It should not be used as a tool to engage and terminate asset managers based solely upon their recent performance."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65105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Active Managers — Statistical Process Control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607040" y="651052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framework does not do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we own up to, so we don't get caught not owning up to them.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81912"/>
            <a:ext cx="73152" cy="77724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5" name="Text 3"/>
          <p:cNvSpPr/>
          <p:nvPr/>
        </p:nvSpPr>
        <p:spPr>
          <a:xfrm>
            <a:off x="777240" y="150876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does not predict forward returns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856232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quality at +12M / +24M is below 50% across the board. Alarms detect that something has changed; they do not tell you which way returns go next.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532888"/>
            <a:ext cx="73152" cy="77724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8" name="Text 6"/>
          <p:cNvSpPr/>
          <p:nvPr/>
        </p:nvSpPr>
        <p:spPr>
          <a:xfrm>
            <a:off x="777240" y="2459736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cannot distinguish skill loss from factor/style noise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280720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AGTHX in October 2008 looked the same to the algorithm as a fund whose entire process is broken. The distinction requires a human-led process review using context the algorithm cannot see.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483864"/>
            <a:ext cx="73152" cy="77724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1" name="Text 9"/>
          <p:cNvSpPr/>
          <p:nvPr/>
        </p:nvSpPr>
        <p:spPr>
          <a:xfrm>
            <a:off x="777240" y="341071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is sensitive to autocorrelation in excess returns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3758184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Lindley recursion assumes independence. EM bond NAVs and some Singapore-listed funds smooth real moves, biasing alarm rates. We flag |ρ₁| &gt; 0.3 funds for special handling.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434840"/>
            <a:ext cx="73152" cy="77724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4" name="Text 12"/>
          <p:cNvSpPr/>
          <p:nvPr/>
        </p:nvSpPr>
        <p:spPr>
          <a:xfrm>
            <a:off x="777240" y="436168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is sensitive to benchmark choice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470916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benchmark → spurious alarms. We benchmark large-value against value indices, EM against EM, IG bonds against IG bonds. The framework is only as good as the benchmark match.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5385816"/>
            <a:ext cx="73152" cy="77724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7" name="Text 15"/>
          <p:cNvSpPr/>
          <p:nvPr/>
        </p:nvSpPr>
        <p:spPr>
          <a:xfrm>
            <a:off x="777240" y="5312664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backtest universe is affected by survivorship bias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5660136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 funds publicly listed today; we cannot see funds that closed during their drawdowns. Post-alarm signal quality is biased toward funds that survived enough to still be in our data.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65105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Active Managers — Statistical Process Control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607040" y="651052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3" name="Text 1"/>
          <p:cNvSpPr/>
          <p:nvPr/>
        </p:nvSpPr>
        <p:spPr>
          <a:xfrm>
            <a:off x="822960" y="5486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to remember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828800" y="16916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framework reproduces a 23-year-old peer-reviewed result.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828800" y="21031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h = 19.46, paper's h = 19.81. Within Monte Carlo noise. The math is defensible to a quant peer.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828800" y="28346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Detection speed: ~32 months versus 40 years for a t-test.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828800" y="32461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operational value. We learn about a regime change roughly 15× faster than the classical alternative.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39776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828800" y="39776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Alarms identify funds for review, not for termination.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828800" y="43891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own backtest shows post-alarm forward returns are unpredictable. The framework allocates CIO attention, not capital decisions.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51206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828800" y="51206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know what it can't do, and we say so.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828800" y="55321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predict direction. Doesn't separate skill from factor noise. Sensitive to autocorrelation and benchmark choice. Survivorship bias in the universe. These are limitations, not deal-breakers.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64008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 Risk  •  Global Markets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2780</Words>
  <Application>Microsoft Office PowerPoint</Application>
  <PresentationFormat>Widescreen</PresentationFormat>
  <Paragraphs>341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Monitoring Active Managers with CUSUM</dc:title>
  <dc:subject>PptxGenJS Presentation</dc:subject>
  <dc:creator>Quant Risk</dc:creator>
  <cp:lastModifiedBy>bhavesh kamdar</cp:lastModifiedBy>
  <cp:revision>1</cp:revision>
  <dcterms:created xsi:type="dcterms:W3CDTF">2026-05-17T05:50:44Z</dcterms:created>
  <dcterms:modified xsi:type="dcterms:W3CDTF">2026-05-17T06:03:35Z</dcterms:modified>
</cp:coreProperties>
</file>